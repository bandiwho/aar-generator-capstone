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07f4c7f16f49d5" /><Relationship Type="http://schemas.openxmlformats.org/officeDocument/2006/relationships/extended-properties" Target="/docProps/app.xml" Id="Ra21b437565314427" /><Relationship Type="http://schemas.openxmlformats.org/officeDocument/2006/relationships/officeDocument" Target="/ppt/presentation.xml" Id="Rbd4ae922b53d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573b886be43d0"/>
  </p:sldMasterIdLst>
  <p:notesMasterIdLst>
    <p:notesMasterId xmlns:r="http://schemas.openxmlformats.org/officeDocument/2006/relationships" r:id="R6e90ddb95d3240a8"/>
  </p:notesMasterIdLst>
  <p:sldIdLst>
    <p:sldId xmlns:r="http://schemas.openxmlformats.org/officeDocument/2006/relationships" id="256" r:id="R703be5e4af414a3c"/>
    <p:sldId xmlns:r="http://schemas.openxmlformats.org/officeDocument/2006/relationships" id="257" r:id="R8d554edf9b14468c"/>
    <p:sldId xmlns:r="http://schemas.openxmlformats.org/officeDocument/2006/relationships" id="258" r:id="R4e6110dcdc944aa9"/>
    <p:sldId xmlns:r="http://schemas.openxmlformats.org/officeDocument/2006/relationships" id="259" r:id="Rc448d43f9d2a4478"/>
    <p:sldId xmlns:r="http://schemas.openxmlformats.org/officeDocument/2006/relationships" id="260" r:id="Rbc4d8ccc0c0d4aaf"/>
    <p:sldId xmlns:r="http://schemas.openxmlformats.org/officeDocument/2006/relationships" id="261" r:id="R755fe6a86d754300"/>
    <p:sldId xmlns:r="http://schemas.openxmlformats.org/officeDocument/2006/relationships" id="262" r:id="R71178de8dd5747db"/>
    <p:sldId xmlns:r="http://schemas.openxmlformats.org/officeDocument/2006/relationships" id="263" r:id="R70eecc0687af4ea5"/>
    <p:sldId xmlns:r="http://schemas.openxmlformats.org/officeDocument/2006/relationships" id="264" r:id="Rb255aa15cfaf45f5"/>
    <p:sldId xmlns:r="http://schemas.openxmlformats.org/officeDocument/2006/relationships" id="265" r:id="Rf7376c08a7de4c34"/>
    <p:sldId xmlns:r="http://schemas.openxmlformats.org/officeDocument/2006/relationships" id="266" r:id="R19dc0a58e8dc44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ca133d84be47dd" /><Relationship Type="http://schemas.openxmlformats.org/officeDocument/2006/relationships/slideMaster" Target="/ppt/slideMasters/slideMaster1.xml" Id="R1c4573b886be43d0" /><Relationship Type="http://schemas.openxmlformats.org/officeDocument/2006/relationships/notesMaster" Target="/ppt/notesMasters/notesMaster1.xml" Id="R6e90ddb95d3240a8" /><Relationship Type="http://schemas.openxmlformats.org/officeDocument/2006/relationships/presProps" Target="/ppt/presProps.xml" Id="R95d169a8bcb148c6" /><Relationship Type="http://schemas.openxmlformats.org/officeDocument/2006/relationships/tableStyles" Target="/ppt/tableStyles.xml" Id="Rc5acd02d22774bcf" /><Relationship Type="http://schemas.openxmlformats.org/officeDocument/2006/relationships/slide" Target="/ppt/slides/slide1.xml" Id="R703be5e4af414a3c" /><Relationship Type="http://schemas.openxmlformats.org/officeDocument/2006/relationships/slide" Target="/ppt/slides/slide2.xml" Id="R8d554edf9b14468c" /><Relationship Type="http://schemas.openxmlformats.org/officeDocument/2006/relationships/slide" Target="/ppt/slides/slide3.xml" Id="R4e6110dcdc944aa9" /><Relationship Type="http://schemas.openxmlformats.org/officeDocument/2006/relationships/slide" Target="/ppt/slides/slide4.xml" Id="Rc448d43f9d2a4478" /><Relationship Type="http://schemas.openxmlformats.org/officeDocument/2006/relationships/slide" Target="/ppt/slides/slide5.xml" Id="Rbc4d8ccc0c0d4aaf" /><Relationship Type="http://schemas.openxmlformats.org/officeDocument/2006/relationships/slide" Target="/ppt/slides/slide6.xml" Id="R755fe6a86d754300" /><Relationship Type="http://schemas.openxmlformats.org/officeDocument/2006/relationships/slide" Target="/ppt/slides/slide7.xml" Id="R71178de8dd5747db" /><Relationship Type="http://schemas.openxmlformats.org/officeDocument/2006/relationships/slide" Target="/ppt/slides/slide8.xml" Id="R70eecc0687af4ea5" /><Relationship Type="http://schemas.openxmlformats.org/officeDocument/2006/relationships/slide" Target="/ppt/slides/slide9.xml" Id="Rb255aa15cfaf45f5" /><Relationship Type="http://schemas.openxmlformats.org/officeDocument/2006/relationships/slide" Target="/ppt/slides/slide10.xml" Id="Rf7376c08a7de4c34" /><Relationship Type="http://schemas.openxmlformats.org/officeDocument/2006/relationships/slide" Target="/ppt/slides/slide11.xml" Id="R19dc0a58e8dc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9a983194e40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1ee10f706a40b0" /><Relationship Type="http://schemas.openxmlformats.org/officeDocument/2006/relationships/notesMaster" Target="/ppt/notesMasters/notesMaster1.xml" Id="R0d19bcd74b9448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3059d2dbf4e8f" /><Relationship Type="http://schemas.openxmlformats.org/officeDocument/2006/relationships/notesMaster" Target="/ppt/notesMasters/notesMaster1.xml" Id="Re838398d93b6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0698e2024c4a34" /><Relationship Type="http://schemas.openxmlformats.org/officeDocument/2006/relationships/notesMaster" Target="/ppt/notesMasters/notesMaster1.xml" Id="Ra44f05751dbe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55e4621e5d4427" /><Relationship Type="http://schemas.openxmlformats.org/officeDocument/2006/relationships/notesMaster" Target="/ppt/notesMasters/notesMaster1.xml" Id="R3e3033f54ff8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55017a0a48456e" /><Relationship Type="http://schemas.openxmlformats.org/officeDocument/2006/relationships/notesMaster" Target="/ppt/notesMasters/notesMaster1.xml" Id="Rd41c32fb60b6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ca76855fee45e1" /><Relationship Type="http://schemas.openxmlformats.org/officeDocument/2006/relationships/notesMaster" Target="/ppt/notesMasters/notesMaster1.xml" Id="Rcd82c0aab4b947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af102b1c54509" /><Relationship Type="http://schemas.openxmlformats.org/officeDocument/2006/relationships/notesMaster" Target="/ppt/notesMasters/notesMaster1.xml" Id="Rec568cb4429b49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d39741807a48e9" /><Relationship Type="http://schemas.openxmlformats.org/officeDocument/2006/relationships/notesMaster" Target="/ppt/notesMasters/notesMaster1.xml" Id="Rdb2cee315064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64c28521c0473d" /><Relationship Type="http://schemas.openxmlformats.org/officeDocument/2006/relationships/notesMaster" Target="/ppt/notesMasters/notesMaster1.xml" Id="R964cd91facc04c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740c680e244c59" /><Relationship Type="http://schemas.openxmlformats.org/officeDocument/2006/relationships/notesMaster" Target="/ppt/notesMasters/notesMaster1.xml" Id="R4c3418881e4a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b7808350824f1f" /><Relationship Type="http://schemas.openxmlformats.org/officeDocument/2006/relationships/notesMaster" Target="/ppt/notesMasters/notesMaster1.xml" Id="Re91ca3ed1623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256396514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31e6a50e3046bc" /><Relationship Type="http://schemas.openxmlformats.org/officeDocument/2006/relationships/slideLayout" Target="/ppt/slideLayouts/slideLayout1.xml" Id="R787afe73b6a6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afe73b6a6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1fab7c75d4ab9" /><Relationship Type="http://schemas.openxmlformats.org/officeDocument/2006/relationships/notesSlide" Target="/ppt/notesSlides/notesSlide1.xml" Id="R521b40cd8b2e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73cd4798e4f4a" /><Relationship Type="http://schemas.openxmlformats.org/officeDocument/2006/relationships/notesSlide" Target="/ppt/notesSlides/notesSlide2.xml" Id="R41c96e86db95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dcf4f43641cf" /><Relationship Type="http://schemas.openxmlformats.org/officeDocument/2006/relationships/notesSlide" Target="/ppt/notesSlides/notesSlide3.xml" Id="Rf2e87238180740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2dca78004c62" /><Relationship Type="http://schemas.openxmlformats.org/officeDocument/2006/relationships/notesSlide" Target="/ppt/notesSlides/notesSlide4.xml" Id="R19b98f183111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55db2f67443c9" /><Relationship Type="http://schemas.openxmlformats.org/officeDocument/2006/relationships/notesSlide" Target="/ppt/notesSlides/notesSlide5.xml" Id="Rc7fa2034f3ad4c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5b25785a48b2" /><Relationship Type="http://schemas.openxmlformats.org/officeDocument/2006/relationships/notesSlide" Target="/ppt/notesSlides/notesSlide6.xml" Id="R356c1e291cdd44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f92e07bcd469b" /><Relationship Type="http://schemas.openxmlformats.org/officeDocument/2006/relationships/notesSlide" Target="/ppt/notesSlides/notesSlide7.xml" Id="R826da4eb17ab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413fe78b644d8" /><Relationship Type="http://schemas.openxmlformats.org/officeDocument/2006/relationships/notesSlide" Target="/ppt/notesSlides/notesSlide8.xml" Id="R1be983e82f4647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bb5a913542d9" /><Relationship Type="http://schemas.openxmlformats.org/officeDocument/2006/relationships/notesSlide" Target="/ppt/notesSlides/notesSlide9.xml" Id="R458e403cd46c4f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bc7fb58404233" /><Relationship Type="http://schemas.openxmlformats.org/officeDocument/2006/relationships/notesSlide" Target="/ppt/notesSlides/notesSlide10.xml" Id="R7d16ab9d493d49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64daf83044032" /><Relationship Type="http://schemas.openxmlformats.org/officeDocument/2006/relationships/notesSlide" Target="/ppt/notesSlides/notesSlide11.xml" Id="R8241c8439b1343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BE5EB-9BC3-4ED8-A6BC-0D4A152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Security Incident Postmortem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EEFC7-D61C-4E82-9776-E227EE09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Automated After-Action Report Generator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A2C1-B244-4662-BB62-520C7753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CSC 482 Capstone Project II | Team 1: Brittany, Garrett, Mike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7BA4C-BB09-44A8-8D42-1D582D16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Final presentation window: July 27-28,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9C054-F41B-4D4F-8F0F-A418C2FB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66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A2AF-B669-4A2A-84CB-58A096D5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AAR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1B1CE-1D31-44ED-A644-7DD1468B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Incident facts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LLM draft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 review-ready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6C820-6C7A-4C06-BB60-3FCD1C0D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BC58-601C-4A0A-9138-4384FB9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0175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9BC95D-0704-4FD3-B36F-8C6A031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26948-D180-4D94-B2B8-5D034EA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Problem We Are Solving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21304-FF59-4EA8-9FDD-852C7FEE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79C8-E589-4D6B-B216-CA14C55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After a security incident, teams must explain what happened, why it happened, what was affected, and what should change. That report process is often slow and inconsistent.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6050E-67DE-44DF-9C44-E4B463B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B9F-8C28-43D7-B420-F9A8EB8B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Manual reports take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EC73-7357-4D2E-9F34-B6EE89B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Teams must collect timelines, logs, impact notes, root causes, remediation steps, and lessons learned.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86CC2-B3A3-4198-8D31-831B6A5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2C3E-54BE-49F4-8802-F9B02546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Details can be missed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623E-72E4-4EE3-B777-634CFD5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Important facts may be scattered across chats, notes, tickets, alerts, or memory after the incident.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FE691-F2CA-4B4C-BB6E-1FB87F6D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43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BDF3F-A73B-42B8-962C-74301E5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33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Audience needs differ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DC5F8-7AC2-4F13-9F22-AB819F3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914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Technical staff need evidence and root cause detail. Leaders need impact, risk, and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9EF33-A402-468F-BD6B-3E0B601E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1715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0A242-9471-4CF6-BE36-FBB1213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610D7-38DE-4E0B-8DB2-475D095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Our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04585-73E7-45EF-8C9D-3B958103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050D5-32FC-41A8-AE94-2064956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 lightweight web application that turns incident details into a structured after-action report draft.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8B9A2-1C4B-4E89-8B75-6889B53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6F169-2A3A-4381-BE85-E51DFD9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8AF0-A481-4F17-8A23-0664F9A5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 enters incident title, type, date, summary, timeline, logs, impact, remediation, lessons learned, and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1F105-A3CC-4BE7-857D-8F713A89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E1C9F-5E0A-44A5-A7D2-04F95D2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Generate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540D-07AB-46C7-9DDA-DB95973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organizes the data into an LLM prompt and requests an AAR draft using the selected audience style.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BFD14-82F7-4240-A308-5211685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A6D30-362B-4D60-86D1-DAA5AF0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48FC9-9B30-4ABF-9954-76F4512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9950"/>
            <a:ext cx="291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Team reviews the draft for clarity, accuracy, 5 Whys root cause, recommendations, and lessons learned.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C99AF-7269-4F1A-B8BC-FA56F52E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127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B6383-C44D-4278-BADC-13F2DF06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146DF-6301-423B-BED1-7BEF1CE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Core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4F1E1-2E47-4C36-9201-D2E13E1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A25E4-53EB-4FDE-964D-B5890971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90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Incident detail entry through a clear frontend form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Support for timelines, log snippets, impact notes, and remediation steps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LLM-supported report generation workflow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5 Whys root-cause analysis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Technical and executive reporting styles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Realistic sample incident data for testing and demo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97E5-34D5-41AB-8C48-0188B39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619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7CE0-5E52-4902-912C-DCD2DEEB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Prototype screenshot 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FB37-8EA3-4DBD-86DD-80E4871D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19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Add a screenshot of the form or generated report here before final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42C22-C5B0-46E6-8FD4-5221612C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5502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D09BEC-008F-43F0-9ADC-969A1BD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74FC-751A-4E59-8B37-2DB0F2C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Prototype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D59FC-8E53-4D40-8C3A-B192A37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8251B-9470-4D25-B851-8BDAB00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C221-E7EE-4625-BC02-2D94A6B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B4477-05A6-43A7-9937-FED4A823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Incident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86DB5-DAC4-4050-9025-E2B63E0E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Facts, timeline,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A9D49-C9D6-4102-B1C7-B4FB4AB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4AD0-8A48-4A0B-8B99-7EFD602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1393-9A55-44A9-8616-D9E8737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12B79-847F-46C2-A842-BE268D2B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C2D2A-F830-49CC-935B-2E20963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Backend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36505-6E6F-4FF1-A1D6-DE2154BA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Structured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B78C6-C3AD-4C87-BF01-55B17696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94AE7-C609-47D6-8EA6-9FAE484F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E706-FD52-49F6-990C-227F883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FFCA96-DDAE-404A-B5FE-B21751A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3869E-B48D-4DEB-A56D-26DE536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LLM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3A6A68-1166-4670-8F3C-559562AD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Audience guidance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DD5C-FEA1-4C4F-9980-EDB93859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F041D-7C0C-465A-8C64-61EA3712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78072-9A57-4248-A989-6E69615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A78CF-2729-4C35-9B30-10786F93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D8122-3B9C-4A02-B05B-AEEAFE0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AAR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0D812-CA68-4682-97BE-19FFE831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Report sections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289E3-3F86-4143-8717-FEA0E09E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FDC5A-FB79-4CF5-B7C6-CEF85AE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38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D34F-7E8C-459C-9BFA-AE4AA439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0183D-EAC7-45B6-8C26-B8869F1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860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EB47D-1BCB-4095-A48C-2EB0EA1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Team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8ED0C-7E06-41CC-BED6-E3F4C84A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Screenshots + notes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2C610-360F-4262-9A26-8E31004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The workflow keeps the human review step visible: the app produces a draft, not an automatically final report.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040D50-355B-437F-BC49-98E22B30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7740175"/>
      </p:ext>
    </p:extLst>
  </p:cSld>
</p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D7B58B3-9E18-43CF-9C9F-DE83BC38C379}"/>
              </a:ext>
            </a:extLst>
          </ns0:cNvPr>
          <ns0:cNvSpPr>
            <a:spLocks noGrp="1"/>
          </ns0:cNvSpPr>
          <ns0:nvPr/>
        </ns0:nvSpPr>
        <ns0:spPr>
          <a:xfrm>
            <a:off x="400050" y="3048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D83F0CC5-F693-4E55-917F-8643EE3E4580}"/>
              </a:ext>
            </a:extLst>
          </ns0:cNvPr>
          <ns0:cNvSpPr>
            <a:spLocks noGrp="1"/>
          </ns0:cNvSpPr>
          <ns0:nvPr/>
        </ns0:nvSpPr>
        <ns0:spPr>
          <a:xfrm>
            <a:off x="400050" y="666750"/>
            <a:ext cx="9048750" cy="685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Milestone Progress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8442CC16-F8EF-4ECD-B5CF-3A833B77F068}"/>
              </a:ext>
            </a:extLst>
          </ns0:cNvPr>
          <ns0:cNvSpPr>
            <a:spLocks noGrp="1"/>
          </ns0:cNvSpPr>
          <ns0:nvPr/>
        </ns0:nvSpPr>
        <ns0:spPr>
          <a:xfrm>
            <a:off x="400050" y="1447800"/>
            <a:ext cx="113919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A055B6EA-C2CD-436F-9A79-3B2187F13215}"/>
              </a:ext>
            </a:extLst>
          </ns0:cNvPr>
          <ns0:cNvSpPr>
            <a:spLocks noGrp="1"/>
          </ns0:cNvSpPr>
          <ns0:nvPr/>
        </ns0:nvSpPr>
        <ns0:spPr>
          <a:xfrm>
            <a:off x="514350" y="1809750"/>
            <a:ext cx="1428750" cy="533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5" name="">
            <a:extLst>
              <a:ext uri="{FF2B5EF4-FFF2-40B4-BE49-F238E27FC236}">
                <ns2:creationId id="{74C06EBA-9944-489D-ABF4-8467D492C391}"/>
              </a:ext>
            </a:extLst>
          </ns0:cNvPr>
          <ns0:cNvSpPr>
            <a:spLocks noGrp="1"/>
          </ns0:cNvSpPr>
          <ns0:nvPr/>
        </ns0:nvSpPr>
        <ns0:spPr>
          <a:xfrm>
            <a:off x="723900" y="19526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0E329E12-0865-4A6B-BE3A-1DA77DA3A53E}"/>
              </a:ext>
            </a:extLst>
          </ns0:cNvPr>
          <ns0:cNvSpPr>
            <a:spLocks noGrp="1"/>
          </ns0:cNvSpPr>
          <ns0:nvPr/>
        </ns0:nvSpPr>
        <ns0:spPr>
          <a:xfrm>
            <a:off x="2190750" y="1885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15-21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146314B-1DB3-45C1-A4DD-E557FBD4DF80}"/>
              </a:ext>
            </a:extLst>
          </ns0:cNvPr>
          <ns0:cNvSpPr>
            <a:spLocks noGrp="1"/>
          </ns0:cNvSpPr>
          <ns0:nvPr/>
        </ns0:nvSpPr>
        <ns0:spPr>
          <a:xfrm>
            <a:off x="4095750" y="18859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1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C1C57200-EE37-4486-9207-7B1D3FCF8579}"/>
              </a:ext>
            </a:extLst>
          </ns0:cNvPr>
          <ns0:cNvSpPr>
            <a:spLocks noGrp="1"/>
          </ns0:cNvSpPr>
          <ns0:nvPr/>
        </ns0:nvSpPr>
        <ns0:spPr>
          <a:xfrm>
            <a:off x="5905500" y="188595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Repository setup, README, sample incidents, form field review</a:t>
            </a:r>
          </a:p>
        </ns0:txBody>
      </ns0:sp>
      <ns0:sp>
        <ns0:nvSpPr>
          <ns0:cNvPr id="9" name="">
            <a:extLst>
              <a:ext uri="{FF2B5EF4-FFF2-40B4-BE49-F238E27FC236}">
                <ns2:creationId id="{43EAB07D-D75B-48ED-B569-6C40B686B5FD}"/>
              </a:ext>
            </a:extLst>
          </ns0:cNvPr>
          <ns0:cNvSpPr>
            <a:spLocks noGrp="1"/>
          </ns0:cNvSpPr>
          <ns0:nvPr/>
        </ns0:nvSpPr>
        <ns0:spPr>
          <a:xfrm>
            <a:off x="514350" y="2514600"/>
            <a:ext cx="1428750" cy="533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10" name="">
            <a:extLst>
              <a:ext uri="{FF2B5EF4-FFF2-40B4-BE49-F238E27FC236}">
                <ns2:creationId id="{FE37D5A5-263E-4616-A9C2-625F982DE6C1}"/>
              </a:ext>
            </a:extLst>
          </ns0:cNvPr>
          <ns0:cNvSpPr>
            <a:spLocks noGrp="1"/>
          </ns0:cNvSpPr>
          <ns0:nvPr/>
        </ns0:nvSpPr>
        <ns0:spPr>
          <a:xfrm>
            <a:off x="723900" y="2657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069CCACC-348C-419A-8E6E-C336E391DFFE}"/>
              </a:ext>
            </a:extLst>
          </ns0:cNvPr>
          <ns0:cNvSpPr>
            <a:spLocks noGrp="1"/>
          </ns0:cNvSpPr>
          <ns0:nvPr/>
        </ns0:nvSpPr>
        <ns0:spPr>
          <a:xfrm>
            <a:off x="2190750" y="2590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22-28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FF6E3E36-41D0-46C6-99F6-272F4DF9E8C3}"/>
              </a:ext>
            </a:extLst>
          </ns0:cNvPr>
          <ns0:cNvSpPr>
            <a:spLocks noGrp="1"/>
          </ns0:cNvSpPr>
          <ns0:nvPr/>
        </ns0:nvSpPr>
        <ns0:spPr>
          <a:xfrm>
            <a:off x="4095750" y="25908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2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F1287484-915C-43B8-8CB3-DA4FD9042801}"/>
              </a:ext>
            </a:extLst>
          </ns0:cNvPr>
          <ns0:cNvSpPr>
            <a:spLocks noGrp="1"/>
          </ns0:cNvSpPr>
          <ns0:nvPr/>
        </ns0:nvSpPr>
        <ns0:spPr>
          <a:xfrm>
            <a:off x="5905500" y="25908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Backend data structure, frontend form, first LLM-generated report draft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5395B13A-7834-45C0-A13C-1112C33F4317}"/>
              </a:ext>
            </a:extLst>
          </ns0:cNvPr>
          <ns0:cNvSpPr>
            <a:spLocks noGrp="1"/>
          </ns0:cNvSpPr>
          <ns0:nvPr/>
        </ns0:nvSpPr>
        <ns0:spPr>
          <a:xfrm>
            <a:off x="514350" y="3219450"/>
            <a:ext cx="1428750" cy="53340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15" name="">
            <a:extLst>
              <a:ext uri="{FF2B5EF4-FFF2-40B4-BE49-F238E27FC236}">
                <ns2:creationId id="{F965210C-310F-430A-94CA-DBFFAA57977A}"/>
              </a:ext>
            </a:extLst>
          </ns0:cNvPr>
          <ns0:cNvSpPr>
            <a:spLocks noGrp="1"/>
          </ns0:cNvSpPr>
          <ns0:nvPr/>
        </ns0:nvSpPr>
        <ns0:spPr>
          <a:xfrm>
            <a:off x="723900" y="33623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Done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B9126739-770D-4D46-8F3D-ABF3ADA67736}"/>
              </a:ext>
            </a:extLst>
          </ns0:cNvPr>
          <ns0:cNvSpPr>
            <a:spLocks noGrp="1"/>
          </ns0:cNvSpPr>
          <ns0:nvPr/>
        </ns0:nvSpPr>
        <ns0:spPr>
          <a:xfrm>
            <a:off x="2190750" y="3295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June 29-July 5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AAD355D1-680C-4F22-8502-B8C14BA19F98}"/>
              </a:ext>
            </a:extLst>
          </ns0:cNvPr>
          <ns0:cNvSpPr>
            <a:spLocks noGrp="1"/>
          </ns0:cNvSpPr>
          <ns0:nvPr/>
        </ns0:nvSpPr>
        <ns0:spPr>
          <a:xfrm>
            <a:off x="4095750" y="32956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3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F448F0CD-A00C-4A17-B5C9-04944DF61294}"/>
              </a:ext>
            </a:extLst>
          </ns0:cNvPr>
          <ns0:cNvSpPr>
            <a:spLocks noGrp="1"/>
          </ns0:cNvSpPr>
          <ns0:nvPr/>
        </ns0:nvSpPr>
        <ns0:spPr>
          <a:xfrm>
            <a:off x="5905500" y="329565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Technical/executive styles, 5 Whys, signed Week 5 journal</a:t>
            </a:r>
          </a:p>
        </ns0:txBody>
      </ns0:sp>
      <ns0:sp>
        <ns0:nvSpPr>
          <ns0:cNvPr id="19" name="">
            <a:extLst>
              <a:ext uri="{FF2B5EF4-FFF2-40B4-BE49-F238E27FC236}">
                <ns2:creationId id="{569AE09A-ABF8-4462-A0D5-FBCB03800DF8}"/>
              </a:ext>
            </a:extLst>
          </ns0:cNvPr>
          <ns0:cNvSpPr>
            <a:spLocks noGrp="1"/>
          </ns0:cNvSpPr>
          <ns0:nvPr/>
        </ns0:nvSpPr>
        <ns0:spPr>
          <a:xfrm>
            <a:off x="514350" y="3924300"/>
            <a:ext cx="1428750" cy="533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20" name="">
            <a:extLst>
              <a:ext uri="{FF2B5EF4-FFF2-40B4-BE49-F238E27FC236}">
                <ns2:creationId id="{23ABF35A-1D39-4D7B-9D94-2EFBEBCBCAE9}"/>
              </a:ext>
            </a:extLst>
          </ns0:cNvPr>
          <ns0:cNvSpPr>
            <a:spLocks noGrp="1"/>
          </ns0:cNvSpPr>
          <ns0:nvPr/>
        </ns0:nvSpPr>
        <ns0:spPr>
          <a:xfrm>
            <a:off x="723900" y="40671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Current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B65B93E6-7A03-4C85-9A6C-20E4D4AA39B4}"/>
              </a:ext>
            </a:extLst>
          </ns0:cNvPr>
          <ns0:cNvSpPr>
            <a:spLocks noGrp="1"/>
          </ns0:cNvSpPr>
          <ns0:nvPr/>
        </ns0:nvSpPr>
        <ns0:spPr>
          <a:xfrm>
            <a:off x="2190750" y="4000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6-12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4E999FD9-42A8-4579-855E-5D3275D6E15D}"/>
              </a:ext>
            </a:extLst>
          </ns0:cNvPr>
          <ns0:cNvSpPr>
            <a:spLocks noGrp="1"/>
          </ns0:cNvSpPr>
          <ns0:nvPr/>
        </ns0:nvSpPr>
        <ns0:spPr>
          <a:xfrm>
            <a:off x="4095750" y="4000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4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F63DEA2B-4BD0-4022-8F42-12CCF5D56F5F}"/>
              </a:ext>
            </a:extLst>
          </ns0:cNvPr>
          <ns0:cNvSpPr>
            <a:spLocks noGrp="1"/>
          </ns0:cNvSpPr>
          <ns0:nvPr/>
        </ns0:nvSpPr>
        <ns0:spPr>
          <a:xfrm>
            <a:off x="5905500" y="40005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Validation, fallback behavior, sample testing, Week 6 journal</a:t>
            </a:r>
          </a:p>
        </ns0:txBody>
      </ns0:sp>
      <ns0:sp>
        <ns0:nvSpPr>
          <ns0:cNvPr id="24" name="">
            <a:extLst>
              <a:ext uri="{FF2B5EF4-FFF2-40B4-BE49-F238E27FC236}">
                <ns2:creationId id="{394443FA-0B7B-49BA-979C-8A64F7326708}"/>
              </a:ext>
            </a:extLst>
          </ns0:cNvPr>
          <ns0:cNvSpPr>
            <a:spLocks noGrp="1"/>
          </ns0:cNvSpPr>
          <ns0:nvPr/>
        </ns0:nvSpPr>
        <ns0:spPr>
          <a:xfrm>
            <a:off x="514350" y="4629150"/>
            <a:ext cx="1428750" cy="533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25" name="">
            <a:extLst>
              <a:ext uri="{FF2B5EF4-FFF2-40B4-BE49-F238E27FC236}">
                <ns2:creationId id="{168A20F6-2DAC-4220-8D69-07F2D886BBAB}"/>
              </a:ext>
            </a:extLst>
          </ns0:cNvPr>
          <ns0:cNvSpPr>
            <a:spLocks noGrp="1"/>
          </ns0:cNvSpPr>
          <ns0:nvPr/>
        </ns0:nvSpPr>
        <ns0:spPr>
          <a:xfrm>
            <a:off x="723900" y="477202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Final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CDAD59B2-DC96-45C5-8927-471972E8F509}"/>
              </a:ext>
            </a:extLst>
          </ns0:cNvPr>
          <ns0:cNvSpPr>
            <a:spLocks noGrp="1"/>
          </ns0:cNvSpPr>
          <ns0:nvPr/>
        </ns0:nvSpPr>
        <ns0:spPr>
          <a:xfrm>
            <a:off x="2190750" y="4705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July 20-24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34BE481E-F673-4614-98A4-FB45CE249578}"/>
              </a:ext>
            </a:extLst>
          </ns0:cNvPr>
          <ns0:cNvSpPr>
            <a:spLocks noGrp="1"/>
          </ns0:cNvSpPr>
          <ns0:nvPr/>
        </ns0:nvSpPr>
        <ns0:spPr>
          <a:xfrm>
            <a:off x="4095750" y="47053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Milestone 6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4081D20E-126A-4887-8593-2EF54A908C05}"/>
              </a:ext>
            </a:extLst>
          </ns0:cNvPr>
          <ns0:cNvSpPr>
            <a:spLocks noGrp="1"/>
          </ns0:cNvSpPr>
          <ns0:nvPr/>
        </ns0:nvSpPr>
        <ns0:spPr>
          <a:xfrm>
            <a:off x="5905500" y="470535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Final report, presentation slides, and final presentation preparation</a:t>
            </a:r>
          </a:p>
        </ns0:txBody>
      </ns0:sp>
      <ns0:sp>
        <ns0:nvSpPr>
          <ns0:cNvPr id="29" name="">
            <a:extLst>
              <a:ext uri="{FF2B5EF4-FFF2-40B4-BE49-F238E27FC236}">
                <ns2:creationId id="{ED3CC237-063A-4B50-A5E9-CC5366BCA77F}"/>
              </a:ext>
            </a:extLst>
          </ns0:cNvPr>
          <ns0:cNvSpPr>
            <a:spLocks noGrp="1"/>
          </ns0:cNvSpPr>
          <ns0:nvPr/>
        </ns0:nvSpPr>
        <ns0:spPr>
          <a:xfrm>
            <a:off x="112395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06</a:t>
            </a:r>
          </a:p>
        </ns0:txBody>
      </ns0:sp>
    </ns0:spTree>
    <ns0:extLst>
      <ns0:ext uri="{BB962C8B-B14F-4D97-AF65-F5344CB8AC3E}">
        <ns3:creationId val="2122403272"/>
      </ns0:ext>
    </ns0:extLst>
  </ns0:cSld>
</ns0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66226-E20F-4988-8C4B-178EB8A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79BCB-0ECA-449F-AA40-5C3AE7BA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A0383-52C4-4286-89DF-12850B3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D09CA-5A1A-4C0D-B72E-E94F28A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D55E5-4287-4973-9BA2-81AEC0A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Brittany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3EFDB-9CF4-483B-A096-579C9E8C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Project leader, documentation lead, quality reviewer. Maintains checklists, meeting log, journal evidence, report wording, screenshots, and final submission organization.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629F2-DEA8-4A82-9BFB-44A56A7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F447A-5159-4170-8E22-BB8299C6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Garrett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E3F0C-1386-442F-9065-C2CD4EE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Backend development and report-generation architecture. Owns schema, LLM prompt workflow, model behavior, 5 Whys, recommendations, fallback behavior, and backend testing.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767F7-5D73-4609-A8E8-376B8C45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9BF51-842C-4D8C-8568-84DD8E0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43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Mike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97D2A-358F-4514-8661-50CCAE5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81275"/>
            <a:ext cx="29146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Frontend development and demo workflow. Owns form usability, audience selector polish, generated report display, frontend error behavior, screenshots, and live demo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7880C-DEA2-474C-89A8-A80BA99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Meeting log evidence tracks attendance, assigned work, and status each week.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EB156-56EA-4B36-83B2-F8E339C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0444755"/>
      </p:ext>
    </p:extLst>
  </p:cSld>
</p:sld>
</file>

<file path=ppt/slides/slide8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3B23AAF7-3F9E-4D3A-8496-AD5D9FE9310A}"/>
              </a:ext>
            </a:extLst>
          </ns0:cNvPr>
          <ns0:cNvSpPr>
            <a:spLocks noGrp="1"/>
          </ns0:cNvSpPr>
          <ns0:nvPr/>
        </ns0:nvSpPr>
        <ns0:spPr>
          <a:xfrm>
            <a:off x="400050" y="3048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A58DB693-EA6C-4C3A-8092-CDC1D6D6A6A6}"/>
              </a:ext>
            </a:extLst>
          </ns0:cNvPr>
          <ns0:cNvSpPr>
            <a:spLocks noGrp="1"/>
          </ns0:cNvSpPr>
          <ns0:nvPr/>
        </ns0:nvSpPr>
        <ns0:spPr>
          <a:xfrm>
            <a:off x="400050" y="666750"/>
            <a:ext cx="9048750" cy="685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Week 6 Testing Evidence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C7066611-C5A7-4372-8B7B-34E8E9E6448F}"/>
              </a:ext>
            </a:extLst>
          </ns0:cNvPr>
          <ns0:cNvSpPr>
            <a:spLocks noGrp="1"/>
          </ns0:cNvSpPr>
          <ns0:nvPr/>
        </ns0:nvSpPr>
        <ns0:spPr>
          <a:xfrm>
            <a:off x="400050" y="1447800"/>
            <a:ext cx="113919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F557EB5F-B981-4BA8-B36A-6A2DF2035B06}"/>
              </a:ext>
            </a:extLst>
          </ns0:cNvPr>
          <ns0:cNvSpPr>
            <a:spLocks noGrp="1"/>
          </ns0:cNvSpPr>
          <ns0:nvPr/>
        </ns0:nvSpPr>
        <ns0:spPr>
          <a:xfrm>
            <a:off x="514350" y="1809750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Week 6 evidence should prove the prototype works across incidents and fails safely.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EBE64186-8E17-4017-AB57-61A9E9C0237F}"/>
              </a:ext>
            </a:extLst>
          </ns0:cNvPr>
          <ns0:cNvSpPr>
            <a:spLocks noGrp="1"/>
          </ns0:cNvSpPr>
          <ns0:nvPr/>
        </ns0:nvSpPr>
        <ns0:spPr>
          <a:xfrm>
            <a:off x="514350" y="2714625"/>
            <a:ext cx="342900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6" name="">
            <a:extLst>
              <a:ext uri="{FF2B5EF4-FFF2-40B4-BE49-F238E27FC236}">
                <ns2:creationId id="{72ECAAC3-237B-4BF2-AA73-669BA3663DD8}"/>
              </a:ext>
            </a:extLst>
          </ns0:cNvPr>
          <ns0:cNvSpPr>
            <a:spLocks noGrp="1"/>
          </ns0:cNvSpPr>
          <ns0:nvPr/>
        </ns0:nvSpPr>
        <ns0:spPr>
          <a:xfrm>
            <a:off x="723900" y="29051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Screenshots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1717C063-4A3B-430E-A2EA-47FCF7AB1B40}"/>
              </a:ext>
            </a:extLst>
          </ns0:cNvPr>
          <ns0:cNvSpPr>
            <a:spLocks noGrp="1"/>
          </ns0:cNvSpPr>
          <ns0:nvPr/>
        </ns0:nvSpPr>
        <ns0:spPr>
          <a:xfrm>
            <a:off x="723900" y="3343275"/>
            <a:ext cx="3009900" cy="1390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Completed form, technical report, executive report, 5 Whys section, validation message, and fallback behavior.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A370E51F-F851-4DA4-ACE5-AD7AE0FEB91F}"/>
              </a:ext>
            </a:extLst>
          </ns0:cNvPr>
          <ns0:cNvSpPr>
            <a:spLocks noGrp="1"/>
          </ns0:cNvSpPr>
          <ns0:nvPr/>
        </ns0:nvSpPr>
        <ns0:spPr>
          <a:xfrm>
            <a:off x="4381500" y="2714625"/>
            <a:ext cx="3429000" cy="2190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85EEB843-86D7-4E5A-B681-D68214E803D1}"/>
              </a:ext>
            </a:extLst>
          </ns0:cNvPr>
          <ns0:cNvSpPr>
            <a:spLocks noGrp="1"/>
          </ns0:cNvSpPr>
          <ns0:nvPr/>
        </ns0:nvSpPr>
        <ns0:spPr>
          <a:xfrm>
            <a:off x="4591050" y="29051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Test notes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66B82399-4AF3-4C92-902E-33156163F795}"/>
              </a:ext>
            </a:extLst>
          </ns0:cNvPr>
          <ns0:cNvSpPr>
            <a:spLocks noGrp="1"/>
          </ns0:cNvSpPr>
          <ns0:nvPr/>
        </ns0:nvSpPr>
        <ns0:spPr>
          <a:xfrm>
            <a:off x="4591050" y="3343275"/>
            <a:ext cx="3009900" cy="1390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Incident tested, audience selected, expected result, actual result, pass or revision status, and issues found.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C44AEF17-D7FE-4400-B274-0686518D5E4F}"/>
              </a:ext>
            </a:extLst>
          </ns0:cNvPr>
          <ns0:cNvSpPr>
            <a:spLocks noGrp="1"/>
          </ns0:cNvSpPr>
          <ns0:nvPr/>
        </ns0:nvSpPr>
        <ns0:spPr>
          <a:xfrm>
            <a:off x="8248650" y="2714625"/>
            <a:ext cx="3429000" cy="21907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12" name="">
            <a:extLst>
              <a:ext uri="{FF2B5EF4-FFF2-40B4-BE49-F238E27FC236}">
                <ns2:creationId id="{425539F3-EF46-4AF3-9114-C39C74405C6A}"/>
              </a:ext>
            </a:extLst>
          </ns0:cNvPr>
          <ns0:cNvSpPr>
            <a:spLocks noGrp="1"/>
          </ns0:cNvSpPr>
          <ns0:nvPr/>
        </ns0:nvSpPr>
        <ns0:spPr>
          <a:xfrm>
            <a:off x="8458200" y="2905125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Safety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8B822D0A-4F8A-448E-9138-E920309404AE}"/>
              </a:ext>
            </a:extLst>
          </ns0:cNvPr>
          <ns0:cNvSpPr>
            <a:spLocks noGrp="1"/>
          </ns0:cNvSpPr>
          <ns0:nvPr/>
        </ns0:nvSpPr>
        <ns0:spPr>
          <a:xfrm>
            <a:off x="8458200" y="3343275"/>
            <a:ext cx="3009900" cy="1390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API key, .env file, or secret value should appear in screenshots, report files, slides, or uploads.</a:t>
            </a:r>
          </a:p>
        </ns0:txBody>
      </ns0:sp>
      <ns0:sp>
        <ns0:nvSpPr>
          <ns0:cNvPr id="14" name="">
            <a:extLst>
              <a:ext uri="{FF2B5EF4-FFF2-40B4-BE49-F238E27FC236}">
                <ns2:creationId id="{4937F2EC-1028-48BD-90BD-F244057A543D}"/>
              </a:ext>
            </a:extLst>
          </ns0:cNvPr>
          <ns0:cNvSpPr>
            <a:spLocks noGrp="1"/>
          </ns0:cNvSpPr>
          <ns0:nvPr/>
        </ns0:nvSpPr>
        <ns0:spPr>
          <a:xfrm>
            <a:off x="112395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08</a:t>
            </a:r>
          </a:p>
        </ns0:txBody>
      </ns0:sp>
    </ns0:spTree>
    <ns0:extLst>
      <ns0:ext uri="{BB962C8B-B14F-4D97-AF65-F5344CB8AC3E}">
        <ns3:creationId val="1607031285"/>
      </ns0:ext>
    </ns0:extLst>
  </ns0:cSld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B23E491B-4153-4EAA-9236-580B0C4197F7}"/>
              </a:ext>
            </a:extLst>
          </ns0:cNvPr>
          <ns0:cNvSpPr>
            <a:spLocks noGrp="1"/>
          </ns0:cNvSpPr>
          <ns0:nvPr/>
        </ns0:nvSpPr>
        <ns0:spPr>
          <a:xfrm>
            <a:off x="400050" y="3048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E113D5ED-F061-44FC-B2CB-0E9F48A00EA5}"/>
              </a:ext>
            </a:extLst>
          </ns0:cNvPr>
          <ns0:cNvSpPr>
            <a:spLocks noGrp="1"/>
          </ns0:cNvSpPr>
          <ns0:nvPr/>
        </ns0:nvSpPr>
        <ns0:spPr>
          <a:xfrm>
            <a:off x="400050" y="666750"/>
            <a:ext cx="9048750" cy="685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Week 6 Priorities Before Final Demo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5B1754B3-F263-486A-B762-E6C67BACB6BD}"/>
              </a:ext>
            </a:extLst>
          </ns0:cNvPr>
          <ns0:cNvSpPr>
            <a:spLocks noGrp="1"/>
          </ns0:cNvSpPr>
          <ns0:nvPr/>
        </ns0:nvSpPr>
        <ns0:spPr>
          <a:xfrm>
            <a:off x="400050" y="1447800"/>
            <a:ext cx="113919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BFA39F8D-F951-45AA-9F45-E5CAC14E9D53}"/>
              </a:ext>
            </a:extLst>
          </ns0:cNvPr>
          <ns0:cNvSpPr>
            <a:spLocks noGrp="1"/>
          </ns0:cNvSpPr>
          <ns0:nvPr/>
        </ns0:nvSpPr>
        <ns0:spPr>
          <a:xfrm>
            <a:off x="628650" y="16764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Priority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F9F17354-FA91-415C-8012-23836734E890}"/>
              </a:ext>
            </a:extLst>
          </ns0:cNvPr>
          <ns0:cNvSpPr>
            <a:spLocks noGrp="1"/>
          </ns0:cNvSpPr>
          <ns0:nvPr/>
        </ns0:nvSpPr>
        <ns0:spPr>
          <a:xfrm>
            <a:off x="1924050" y="16764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Area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01C0A1A8-408E-437F-BBE4-7DD7794328DC}"/>
              </a:ext>
            </a:extLst>
          </ns0:cNvPr>
          <ns0:cNvSpPr>
            <a:spLocks noGrp="1"/>
          </ns0:cNvSpPr>
          <ns0:nvPr/>
        </ns0:nvSpPr>
        <ns0:spPr>
          <a:xfrm>
            <a:off x="4095750" y="1676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Task</a:t>
            </a:r>
          </a:p>
        </ns0:txBody>
      </ns0:sp>
      <ns0:sp>
        <ns0:nvSpPr>
          <ns0:cNvPr id="7" name="">
            <a:extLst>
              <a:ext uri="{FF2B5EF4-FFF2-40B4-BE49-F238E27FC236}">
                <ns2:creationId id="{BE4FFEC4-1FB3-4C66-ADF5-CB654CE3CDF9}"/>
              </a:ext>
            </a:extLst>
          </ns0:cNvPr>
          <ns0:cNvSpPr>
            <a:spLocks noGrp="1"/>
          </ns0:cNvSpPr>
          <ns0:nvPr/>
        </ns0:nvSpPr>
        <ns0:spPr>
          <a:xfrm>
            <a:off x="9620250" y="16764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Owner</a:t>
            </a:r>
          </a:p>
        </ns0:txBody>
      </ns0:sp>
      <ns0:sp>
        <ns0:nvSpPr>
          <ns0:cNvPr id="8" name="">
            <a:extLst>
              <a:ext uri="{FF2B5EF4-FFF2-40B4-BE49-F238E27FC236}">
                <ns2:creationId id="{0F3CD953-6037-4240-8893-81F6247139E7}"/>
              </a:ext>
            </a:extLst>
          </ns0:cNvPr>
          <ns0:cNvSpPr>
            <a:spLocks noGrp="1"/>
          </ns0:cNvSpPr>
          <ns0:nvPr/>
        </ns0:nvSpPr>
        <ns0:spPr>
          <a:xfrm>
            <a:off x="514350" y="2076450"/>
            <a:ext cx="11144250" cy="5524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9" name="">
            <a:extLst>
              <a:ext uri="{FF2B5EF4-FFF2-40B4-BE49-F238E27FC236}">
                <ns2:creationId id="{E6D3A7CE-6278-4145-ABF2-D02FA439E93C}"/>
              </a:ext>
            </a:extLst>
          </ns0:cNvPr>
          <ns0:cNvSpPr>
            <a:spLocks noGrp="1"/>
          </ns0:cNvSpPr>
          <ns0:nvPr/>
        </ns0:nvSpPr>
        <ns0:spPr>
          <a:xfrm>
            <a:off x="685800" y="22479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ns0:txBody>
      </ns0:sp>
      <ns0:sp>
        <ns0:nvSpPr>
          <ns0:cNvPr id="10" name="">
            <a:extLst>
              <a:ext uri="{FF2B5EF4-FFF2-40B4-BE49-F238E27FC236}">
                <ns2:creationId id="{C4F107E2-979D-4416-B2FC-93A4C89F56B0}"/>
              </a:ext>
            </a:extLst>
          </ns0:cNvPr>
          <ns0:cNvSpPr>
            <a:spLocks noGrp="1"/>
          </ns0:cNvSpPr>
          <ns0:nvPr/>
        </ns0:nvSpPr>
        <ns0:spPr>
          <a:xfrm>
            <a:off x="1924050" y="2247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Sample testing</a:t>
            </a:r>
          </a:p>
        </ns0:txBody>
      </ns0:sp>
      <ns0:sp>
        <ns0:nvSpPr>
          <ns0:cNvPr id="11" name="">
            <a:extLst>
              <a:ext uri="{FF2B5EF4-FFF2-40B4-BE49-F238E27FC236}">
                <ns2:creationId id="{E1AF01BB-9E7E-4114-B4F1-17DB38E78C60}"/>
              </a:ext>
            </a:extLst>
          </ns0:cNvPr>
          <ns0:cNvSpPr>
            <a:spLocks noGrp="1"/>
          </ns0:cNvSpPr>
          <ns0:nvPr/>
        </ns0:nvSpPr>
        <ns0:spPr>
          <a:xfrm>
            <a:off x="4095750" y="22098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Test 3 incidents and record pass/fail notes</a:t>
            </a:r>
          </a:p>
        </ns0:txBody>
      </ns0:sp>
      <ns0:sp>
        <ns0:nvSpPr>
          <ns0:cNvPr id="12" name="">
            <a:extLst>
              <a:ext uri="{FF2B5EF4-FFF2-40B4-BE49-F238E27FC236}">
                <ns2:creationId id="{C8DC2D2B-FC51-4EB6-BED5-521F84142B58}"/>
              </a:ext>
            </a:extLst>
          </ns0:cNvPr>
          <ns0:cNvSpPr>
            <a:spLocks noGrp="1"/>
          </ns0:cNvSpPr>
          <ns0:nvPr/>
        </ns0:nvSpPr>
        <ns0:spPr>
          <a:xfrm>
            <a:off x="9620250" y="2247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Brittany</a:t>
            </a:r>
          </a:p>
        </ns0:txBody>
      </ns0:sp>
      <ns0:sp>
        <ns0:nvSpPr>
          <ns0:cNvPr id="13" name="">
            <a:extLst>
              <a:ext uri="{FF2B5EF4-FFF2-40B4-BE49-F238E27FC236}">
                <ns2:creationId id="{20F2EA6E-8693-438A-B315-EE0B14A1B161}"/>
              </a:ext>
            </a:extLst>
          </ns0:cNvPr>
          <ns0:cNvSpPr>
            <a:spLocks noGrp="1"/>
          </ns0:cNvSpPr>
          <ns0:nvPr/>
        </ns0:nvSpPr>
        <ns0:spPr>
          <a:xfrm>
            <a:off x="514350" y="2762250"/>
            <a:ext cx="11144250" cy="5524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14" name="">
            <a:extLst>
              <a:ext uri="{FF2B5EF4-FFF2-40B4-BE49-F238E27FC236}">
                <ns2:creationId id="{373D8072-0025-4DD5-A157-B591958925CC}"/>
              </a:ext>
            </a:extLst>
          </ns0:cNvPr>
          <ns0:cNvSpPr>
            <a:spLocks noGrp="1"/>
          </ns0:cNvSpPr>
          <ns0:nvPr/>
        </ns0:nvSpPr>
        <ns0:spPr>
          <a:xfrm>
            <a:off x="685800" y="2933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ns0:txBody>
      </ns0:sp>
      <ns0:sp>
        <ns0:nvSpPr>
          <ns0:cNvPr id="15" name="">
            <a:extLst>
              <a:ext uri="{FF2B5EF4-FFF2-40B4-BE49-F238E27FC236}">
                <ns2:creationId id="{90FE8DC4-3967-474F-B129-A27C6F1BE881}"/>
              </a:ext>
            </a:extLst>
          </ns0:cNvPr>
          <ns0:cNvSpPr>
            <a:spLocks noGrp="1"/>
          </ns0:cNvSpPr>
          <ns0:nvPr/>
        </ns0:nvSpPr>
        <ns0:spPr>
          <a:xfrm>
            <a:off x="1924050" y="29337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5 Whys quality</a:t>
            </a:r>
          </a:p>
        </ns0:txBody>
      </ns0:sp>
      <ns0:sp>
        <ns0:nvSpPr>
          <ns0:cNvPr id="16" name="">
            <a:extLst>
              <a:ext uri="{FF2B5EF4-FFF2-40B4-BE49-F238E27FC236}">
                <ns2:creationId id="{FAD1DB19-470F-4784-9BB0-F3120E369255}"/>
              </a:ext>
            </a:extLst>
          </ns0:cNvPr>
          <ns0:cNvSpPr>
            <a:spLocks noGrp="1"/>
          </ns0:cNvSpPr>
          <ns0:nvPr/>
        </ns0:nvSpPr>
        <ns0:spPr>
          <a:xfrm>
            <a:off x="4095750" y="28956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Verify Whys use timeline, evidence, impact, and open questions</a:t>
            </a:r>
          </a:p>
        </ns0:txBody>
      </ns0:sp>
      <ns0:sp>
        <ns0:nvSpPr>
          <ns0:cNvPr id="17" name="">
            <a:extLst>
              <a:ext uri="{FF2B5EF4-FFF2-40B4-BE49-F238E27FC236}">
                <ns2:creationId id="{CD599E3B-E839-485E-A70D-0C092069BF66}"/>
              </a:ext>
            </a:extLst>
          </ns0:cNvPr>
          <ns0:cNvSpPr>
            <a:spLocks noGrp="1"/>
          </ns0:cNvSpPr>
          <ns0:nvPr/>
        </ns0:nvSpPr>
        <ns0:spPr>
          <a:xfrm>
            <a:off x="9620250" y="2933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Garrett</a:t>
            </a:r>
          </a:p>
        </ns0:txBody>
      </ns0:sp>
      <ns0:sp>
        <ns0:nvSpPr>
          <ns0:cNvPr id="18" name="">
            <a:extLst>
              <a:ext uri="{FF2B5EF4-FFF2-40B4-BE49-F238E27FC236}">
                <ns2:creationId id="{5D7DD69A-4C99-4BA0-9761-BC866AA65340}"/>
              </a:ext>
            </a:extLst>
          </ns0:cNvPr>
          <ns0:cNvSpPr>
            <a:spLocks noGrp="1"/>
          </ns0:cNvSpPr>
          <ns0:nvPr/>
        </ns0:nvSpPr>
        <ns0:spPr>
          <a:xfrm>
            <a:off x="514350" y="3448050"/>
            <a:ext cx="111442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ns0:spPr>
      </ns0:sp>
      <ns0:sp>
        <ns0:nvSpPr>
          <ns0:cNvPr id="19" name="">
            <a:extLst>
              <a:ext uri="{FF2B5EF4-FFF2-40B4-BE49-F238E27FC236}">
                <ns2:creationId id="{F2EA7758-8987-46CF-9F14-7B21AAC0A422}"/>
              </a:ext>
            </a:extLst>
          </ns0:cNvPr>
          <ns0:cNvSpPr>
            <a:spLocks noGrp="1"/>
          </ns0:cNvSpPr>
          <ns0:nvPr/>
        </ns0:nvSpPr>
        <ns0:spPr>
          <a:xfrm>
            <a:off x="685800" y="36195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Medium</a:t>
            </a:r>
          </a:p>
        </ns0:txBody>
      </ns0:sp>
      <ns0:sp>
        <ns0:nvSpPr>
          <ns0:cNvPr id="20" name="">
            <a:extLst>
              <a:ext uri="{FF2B5EF4-FFF2-40B4-BE49-F238E27FC236}">
                <ns2:creationId id="{5E4E57DD-8CCE-4851-8999-6B7C535B2FB3}"/>
              </a:ext>
            </a:extLst>
          </ns0:cNvPr>
          <ns0:cNvSpPr>
            <a:spLocks noGrp="1"/>
          </ns0:cNvSpPr>
          <ns0:nvPr/>
        </ns0:nvSpPr>
        <ns0:spPr>
          <a:xfrm>
            <a:off x="1924050" y="36195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Validation/export</a:t>
            </a:r>
          </a:p>
        </ns0:txBody>
      </ns0:sp>
      <ns0:sp>
        <ns0:nvSpPr>
          <ns0:cNvPr id="21" name="">
            <a:extLst>
              <a:ext uri="{FF2B5EF4-FFF2-40B4-BE49-F238E27FC236}">
                <ns2:creationId id="{98037282-AE26-45AE-94BB-7BE181E3D0EA}"/>
              </a:ext>
            </a:extLst>
          </ns0:cNvPr>
          <ns0:cNvSpPr>
            <a:spLocks noGrp="1"/>
          </ns0:cNvSpPr>
          <ns0:nvPr/>
        </ns0:nvSpPr>
        <ns0:spPr>
          <a:xfrm>
            <a:off x="4095750" y="35814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Show required-field messages and save report evidence</a:t>
            </a:r>
          </a:p>
        </ns0:txBody>
      </ns0:sp>
      <ns0:sp>
        <ns0:nvSpPr>
          <ns0:cNvPr id="22" name="">
            <a:extLst>
              <a:ext uri="{FF2B5EF4-FFF2-40B4-BE49-F238E27FC236}">
                <ns2:creationId id="{B5B534AD-47FD-491F-8262-847686A63809}"/>
              </a:ext>
            </a:extLst>
          </ns0:cNvPr>
          <ns0:cNvSpPr>
            <a:spLocks noGrp="1"/>
          </ns0:cNvSpPr>
          <ns0:nvPr/>
        </ns0:nvSpPr>
        <ns0:spPr>
          <a:xfrm>
            <a:off x="9620250" y="36195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Mike</a:t>
            </a:r>
          </a:p>
        </ns0:txBody>
      </ns0:sp>
      <ns0:sp>
        <ns0:nvSpPr>
          <ns0:cNvPr id="23" name="">
            <a:extLst>
              <a:ext uri="{FF2B5EF4-FFF2-40B4-BE49-F238E27FC236}">
                <ns2:creationId id="{2E54374B-3354-4D6C-B435-A3B36F0E88F1}"/>
              </a:ext>
            </a:extLst>
          </ns0:cNvPr>
          <ns0:cNvSpPr>
            <a:spLocks noGrp="1"/>
          </ns0:cNvSpPr>
          <ns0:nvPr/>
        </ns0:nvSpPr>
        <ns0:spPr>
          <a:xfrm>
            <a:off x="514350" y="4133850"/>
            <a:ext cx="11144250" cy="5524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24" name="">
            <a:extLst>
              <a:ext uri="{FF2B5EF4-FFF2-40B4-BE49-F238E27FC236}">
                <ns2:creationId id="{53DF4388-A45D-4CAE-958A-BA99C4EDC587}"/>
              </a:ext>
            </a:extLst>
          </ns0:cNvPr>
          <ns0:cNvSpPr>
            <a:spLocks noGrp="1"/>
          </ns0:cNvSpPr>
          <ns0:nvPr/>
        </ns0:nvSpPr>
        <ns0:spPr>
          <a:xfrm>
            <a:off x="685800" y="43053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ns0:txBody>
      </ns0:sp>
      <ns0:sp>
        <ns0:nvSpPr>
          <ns0:cNvPr id="25" name="">
            <a:extLst>
              <a:ext uri="{FF2B5EF4-FFF2-40B4-BE49-F238E27FC236}">
                <ns2:creationId id="{7118D01C-B08A-48DB-8E90-3ADA120AAF69}"/>
              </a:ext>
            </a:extLst>
          </ns0:cNvPr>
          <ns0:cNvSpPr>
            <a:spLocks noGrp="1"/>
          </ns0:cNvSpPr>
          <ns0:nvPr/>
        </ns0:nvSpPr>
        <ns0:spPr>
          <a:xfrm>
            <a:off x="1924050" y="4305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Meeting evidence</a:t>
            </a:r>
          </a:p>
        </ns0:txBody>
      </ns0:sp>
      <ns0:sp>
        <ns0:nvSpPr>
          <ns0:cNvPr id="26" name="">
            <a:extLst>
              <a:ext uri="{FF2B5EF4-FFF2-40B4-BE49-F238E27FC236}">
                <ns2:creationId id="{E946AAF2-FEAC-4E9A-B8BF-D7C134751B09}"/>
              </a:ext>
            </a:extLst>
          </ns0:cNvPr>
          <ns0:cNvSpPr>
            <a:spLocks noGrp="1"/>
          </ns0:cNvSpPr>
          <ns0:nvPr/>
        </ns0:nvSpPr>
        <ns0:spPr>
          <a:xfrm>
            <a:off x="4095750" y="42672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Update meeting log, TODOs, and deliverables for Week 6</a:t>
            </a:r>
          </a:p>
        </ns0:txBody>
      </ns0:sp>
      <ns0:sp>
        <ns0:nvSpPr>
          <ns0:cNvPr id="27" name="">
            <a:extLst>
              <a:ext uri="{FF2B5EF4-FFF2-40B4-BE49-F238E27FC236}">
                <ns2:creationId id="{170AE320-70AB-47E7-80D5-B6C28309F7A2}"/>
              </a:ext>
            </a:extLst>
          </ns0:cNvPr>
          <ns0:cNvSpPr>
            <a:spLocks noGrp="1"/>
          </ns0:cNvSpPr>
          <ns0:nvPr/>
        </ns0:nvSpPr>
        <ns0:spPr>
          <a:xfrm>
            <a:off x="9620250" y="43053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Brittany</a:t>
            </a:r>
          </a:p>
        </ns0:txBody>
      </ns0:sp>
      <ns0:sp>
        <ns0:nvSpPr>
          <ns0:cNvPr id="28" name="">
            <a:extLst>
              <a:ext uri="{FF2B5EF4-FFF2-40B4-BE49-F238E27FC236}">
                <ns2:creationId id="{FBAF80B1-4E88-4BE9-AB6C-41E816DC1B85}"/>
              </a:ext>
            </a:extLst>
          </ns0:cNvPr>
          <ns0:cNvSpPr>
            <a:spLocks noGrp="1"/>
          </ns0:cNvSpPr>
          <ns0:nvPr/>
        </ns0:nvSpPr>
        <ns0:spPr>
          <a:xfrm>
            <a:off x="514350" y="4819650"/>
            <a:ext cx="11144250" cy="552450"/>
          </a:xfrm>
          <a:prstGeom prst="rect">
            <a:avLst/>
          </a:prstGeom>
          <a:solidFill>
            <a:srgbClr val="FFF3ED"/>
          </a:solidFill>
          <a:ln w="9525">
            <a:solidFill>
              <a:srgbClr val="FF6B35"/>
            </a:solidFill>
            <a:prstDash val="solid"/>
          </a:ln>
        </ns0:spPr>
      </ns0:sp>
      <ns0:sp>
        <ns0:nvSpPr>
          <ns0:cNvPr id="29" name="">
            <a:extLst>
              <a:ext uri="{FF2B5EF4-FFF2-40B4-BE49-F238E27FC236}">
                <ns2:creationId id="{468F3088-0736-4697-94EA-F533E88CFAC3}"/>
              </a:ext>
            </a:extLst>
          </ns0:cNvPr>
          <ns0:cNvSpPr>
            <a:spLocks noGrp="1"/>
          </ns0:cNvSpPr>
          <ns0:nvPr/>
        </ns0:nvSpPr>
        <ns0:spPr>
          <a:xfrm>
            <a:off x="685800" y="49911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High</a:t>
            </a:r>
          </a:p>
        </ns0:txBody>
      </ns0:sp>
      <ns0:sp>
        <ns0:nvSpPr>
          <ns0:cNvPr id="30" name="">
            <a:extLst>
              <a:ext uri="{FF2B5EF4-FFF2-40B4-BE49-F238E27FC236}">
                <ns2:creationId id="{500BBFC9-E0B2-4976-9E78-57ACFDC425F6}"/>
              </a:ext>
            </a:extLst>
          </ns0:cNvPr>
          <ns0:cNvSpPr>
            <a:spLocks noGrp="1"/>
          </ns0:cNvSpPr>
          <ns0:nvPr/>
        </ns0:nvSpPr>
        <ns0:spPr>
          <a:xfrm>
            <a:off x="1924050" y="49911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Final readiness</a:t>
            </a:r>
          </a:p>
        </ns0:txBody>
      </ns0:sp>
      <ns0:sp>
        <ns0:nvSpPr>
          <ns0:cNvPr id="31" name="">
            <a:extLst>
              <a:ext uri="{FF2B5EF4-FFF2-40B4-BE49-F238E27FC236}">
                <ns2:creationId id="{2C5FA16C-5A71-45E7-84A7-E2074CD6E1F0}"/>
              </a:ext>
            </a:extLst>
          </ns0:cNvPr>
          <ns0:cNvSpPr>
            <a:spLocks noGrp="1"/>
          </ns0:cNvSpPr>
          <ns0:nvPr/>
        </ns0:nvSpPr>
        <ns0:spPr>
          <a:xfrm>
            <a:off x="4095750" y="49530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Prepare backup screenshots and fallback report</a:t>
            </a:r>
          </a:p>
        </ns0:txBody>
      </ns0:sp>
      <ns0:sp>
        <ns0:nvSpPr>
          <ns0:cNvPr id="32" name="">
            <a:extLst>
              <a:ext uri="{FF2B5EF4-FFF2-40B4-BE49-F238E27FC236}">
                <ns2:creationId id="{2CDA5974-001D-4078-869F-065E067691EE}"/>
              </a:ext>
            </a:extLst>
          </ns0:cNvPr>
          <ns0:cNvSpPr>
            <a:spLocks noGrp="1"/>
          </ns0:cNvSpPr>
          <ns0:nvPr/>
        </ns0:nvSpPr>
        <ns0:spPr>
          <a:xfrm>
            <a:off x="9620250" y="49911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Team</a:t>
            </a:r>
          </a:p>
        </ns0:txBody>
      </ns0:sp>
      <ns0:sp>
        <ns0:nvSpPr>
          <ns0:cNvPr id="33" name="">
            <a:extLst>
              <a:ext uri="{FF2B5EF4-FFF2-40B4-BE49-F238E27FC236}">
                <ns2:creationId id="{028FCF4F-07AA-4E71-BFD6-1A77575FD5E8}"/>
              </a:ext>
            </a:extLst>
          </ns0:cNvPr>
          <ns0:cNvSpPr>
            <a:spLocks noGrp="1"/>
          </ns0:cNvSpPr>
          <ns0:nvPr/>
        </ns0:nvSpPr>
        <ns0:spPr>
          <a:xfrm>
            <a:off x="112395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09</a:t>
            </a:r>
          </a:p>
        </ns0:txBody>
      </ns0:sp>
    </ns0:spTree>
    <ns0:extLst>
      <ns0:ext uri="{BB962C8B-B14F-4D97-AF65-F5344CB8AC3E}">
        <ns3:creationId val="722290525"/>
      </ns0:ext>
    </ns0:extLst>
  </ns0:cSld>
</ns0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9117C-CDC3-485B-8786-9E3B3A6C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30C8E-6DE3-4043-9D09-584B9E7F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Final Presentation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64DB9-426F-4FA8-A35A-8877B27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329E7-9B84-4629-A839-363B417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Final presentation window: July 27-28,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6512F-8C49-43E0-9F9B-D9318CC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1E82-0F1B-464E-9D7D-4314D14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60EDE-5524-416A-BE82-B0F60D6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Project summary, milestones, completed subtasks, testing evidence, lessons learned, contributions, and meeting log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CF6E3-B4EF-40DE-8524-0CC8FF0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A57FE-5D17-48E1-B7AF-6CA0D100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Slides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2FCD-8FCA-40E5-96E1-43B25FB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Problem, solution, prototype workflow, screenshots, testing summary, lessons learned, team roles, and final demo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88F41-322C-4A85-B1DC-617A174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04742-1586-405C-A9F2-16D9904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0512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Live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0361C-50B7-439E-8E8F-4126D974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43275"/>
            <a:ext cx="3009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Run the app, submit a sample incident, show the generated report, explain technical vs executive output, and use backups if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CFCE7-6AA4-4454-9ADD-F7F8641C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39371"/>
      </p:ext>
    </p:extLst>
  </p:cSld>
</p:sld>
</file>

<file path=ppt/slides/slide1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FFFFFF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1" name="">
            <a:extLst>
              <a:ext uri="{FF2B5EF4-FFF2-40B4-BE49-F238E27FC236}">
                <ns2:creationId id="{4312F51D-EA22-488A-866D-6B9FF595D741}"/>
              </a:ext>
            </a:extLst>
          </ns0:cNvPr>
          <ns0:cNvSpPr>
            <a:spLocks noGrp="1"/>
          </ns0:cNvSpPr>
          <ns0:nvPr/>
        </ns0:nvSpPr>
        <ns0:spPr>
          <a:xfrm>
            <a:off x="400050" y="304800"/>
            <a:ext cx="6667500" cy="24765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CSC 482 Capstone Project II | Team 1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827D830D-D2AF-4281-9BA6-375CFEED18B9}"/>
              </a:ext>
            </a:extLst>
          </ns0:cNvPr>
          <ns0:cNvSpPr>
            <a:spLocks noGrp="1"/>
          </ns0:cNvSpPr>
          <ns0:nvPr/>
        </ns0:nvSpPr>
        <ns0:spPr>
          <a:xfrm>
            <a:off x="400050" y="666750"/>
            <a:ext cx="9048750" cy="6858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Ready for Final Demo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E71948D4-9A77-4DF8-AFFC-B81071A9DC8C}"/>
              </a:ext>
            </a:extLst>
          </ns0:cNvPr>
          <ns0:cNvSpPr>
            <a:spLocks noGrp="1"/>
          </ns0:cNvSpPr>
          <ns0:nvPr/>
        </ns0:nvSpPr>
        <ns0:spPr>
          <a:xfrm>
            <a:off x="400050" y="1447800"/>
            <a:ext cx="11391900" cy="19050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ns0:spPr>
      </ns0:sp>
      <ns0:sp>
        <ns0:nvSpPr>
          <ns0:cNvPr id="4" name="">
            <a:extLst>
              <a:ext uri="{FF2B5EF4-FFF2-40B4-BE49-F238E27FC236}">
                <ns2:creationId id="{76572D26-49AC-4556-A1D9-A8F4171CDD61}"/>
              </a:ext>
            </a:extLst>
          </ns0:cNvPr>
          <ns0:cNvSpPr>
            <a:spLocks noGrp="1"/>
          </ns0:cNvSpPr>
          <ns0:nvPr/>
        </ns0:nvSpPr>
        <ns0:spPr>
          <a:xfrm>
            <a:off x="704850" y="1809750"/>
            <a:ext cx="9906000" cy="9144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Team 1 is on track when the prototype, testing evidence, journal updates, and backup demo materials all support the final presentation.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40D4C66-5994-4BBC-8439-1DC199759445}"/>
              </a:ext>
            </a:extLst>
          </ns0:cNvPr>
          <ns0:cNvSpPr>
            <a:spLocks noGrp="1"/>
          </ns0:cNvSpPr>
          <ns0:nvPr/>
        </ns0:nvSpPr>
        <ns0:spPr>
          <a:xfrm>
            <a:off x="914400" y="3143250"/>
            <a:ext cx="9334500" cy="20955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The prototype accepts realistic incident data</a:t>
            </a: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Reports include timeline, evidence, 5 Whys, root cause, remediation, recommendations, and lessons learned</a:t>
            </a: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Technical and executive report styles are visibly different</a:t>
            </a: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Week 6 testing notes and screenshots support the final report</a:t>
            </a: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Backup screenshots and fallback output are ready for demo risk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C148A718-94C1-44AB-BA25-CEE735359C54}"/>
              </a:ext>
            </a:extLst>
          </ns0:cNvPr>
          <ns0:cNvSpPr>
            <a:spLocks noGrp="1"/>
          </ns0:cNvSpPr>
          <ns0:nvPr/>
        </ns0:nvSpPr>
        <ns0:spPr>
          <a:xfrm>
            <a:off x="11239500" y="63246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ns0:spPr>
        <ns0:txBody>
          <a:bodyPr/>
          <a:lstStyle/>
          <a:p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11</a:t>
            </a:r>
          </a:p>
        </ns0:txBody>
      </ns0:sp>
    </ns0:spTree>
    <ns0:extLst>
      <ns0:ext uri="{BB962C8B-B14F-4D97-AF65-F5344CB8AC3E}">
        <ns3:creationId val="824279862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2026-06-30T05:36:25.8310000Z</dcterms:created>
  <dcterms:modified xsi:type="dcterms:W3CDTF">2026-06-30T05:36:25.8310000Z</dcterms:modified>
</coreProperties>
</file>